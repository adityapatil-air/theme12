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400" kern="0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BHARAT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2026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724248" y="2057400"/>
            <a:ext cx="2743200" cy="457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9448495" cy="3200400"/>
          </a:xfrm>
          <a:prstGeom prst="rect">
            <a:avLst/>
          </a:prstGeom>
          <a:solidFill>
            <a:srgbClr val="FFFCF3"/>
          </a:solidFill>
          <a:ln w="19050">
            <a:solidFill>
              <a:srgbClr val="E2D3A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3108960"/>
            <a:ext cx="91440" cy="32004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429000"/>
            <a:ext cx="8808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12 — AI for the 1092 Helpline</a:t>
            </a:r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AI-Assistive Voice-to-Voice Layer for the Karnataka 1092 Women &amp; Child Helpline</a:t>
            </a:r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Services · Public Safety · e-Governance</a:t>
            </a:r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· Voice AI · Accessibility</a:t>
            </a:r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Arjuna</a:t>
            </a:r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· 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i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Pratyaya — Verified Voice-to-Voice for 1092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ARJUNA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BHARAT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9260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1734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 — Pratyaya: Verified Voice-to-Voice for 1092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55768" y="1481328"/>
            <a:ext cx="12801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34786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1092 helpline receives calls in Kannada · Hindi · English · code-mixed Hinglish — often from callers in distress. Misunderstanding causes delayed or wrong action.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108960"/>
            <a:ext cx="34786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83280"/>
            <a:ext cx="347868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Voice-to-Voice Pipeline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speech in 3 languages with 4-way Kannada dialect awareness.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Verification-First Loop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paraphrases what it heard · asks yes/no/partial · never acts on assumption.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 Sentiment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· urgency · anger · fear · confusion · calm — drives auto-handover.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Human Takeover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cases escalate with full context + Telegram phone ping.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confirmation/correction captured as a labelled training pair.</a:t>
            </a:r>
            <a:endParaRPr lang="en-US" sz="1100" dirty="0"/>
          </a:p>
          <a:p>
            <a:pPr marL="342900" indent="-342900">
              <a:buSzPct val="100000"/>
              <a:buChar char="▸"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appended to a SHA-256 hash chain.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DIAGRAM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10202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8802" y="2377440"/>
            <a:ext cx="331409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8802" y="2377440"/>
            <a:ext cx="331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speaks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8802" y="2724912"/>
            <a:ext cx="33140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8802" y="2880360"/>
            <a:ext cx="331409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8802" y="2880360"/>
            <a:ext cx="331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captures audio  /converse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8802" y="3227832"/>
            <a:ext cx="33140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8802" y="3383280"/>
            <a:ext cx="331409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8802" y="3383280"/>
            <a:ext cx="331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 +  PII redact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8802" y="3730752"/>
            <a:ext cx="33140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8802" y="3886200"/>
            <a:ext cx="3314090" cy="384048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8802" y="3886200"/>
            <a:ext cx="331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∥ Sentiment (parallel)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38802" y="4233672"/>
            <a:ext cx="33140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8802" y="4389120"/>
            <a:ext cx="3314090" cy="384048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8802" y="4389120"/>
            <a:ext cx="331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few-shot · 3 Safety Guards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38802" y="4736592"/>
            <a:ext cx="331409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8802" y="4892040"/>
            <a:ext cx="1043737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38802" y="4892040"/>
            <a:ext cx="1043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(loop)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3979" y="4892040"/>
            <a:ext cx="1043737" cy="50292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3979" y="4892040"/>
            <a:ext cx="1043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advice)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09156" y="4892040"/>
            <a:ext cx="1043737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9156" y="4892040"/>
            <a:ext cx="10437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Officer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46085" y="2148840"/>
            <a:ext cx="3771290" cy="205740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10677" y="2240280"/>
            <a:ext cx="347868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before action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machine: VERIFIED · CLARIFY · HANDOVER.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Dialect-aware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Kannada (Bangalore · Dharwad · Mangaluru · HK).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swap-points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→ IndicConformer · Llama → Sarvam-1 · Edge → Bhashini.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at the edge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Aadhaar / email redacted before LLM or DB.</a:t>
            </a:r>
            <a:endParaRPr lang="en-US" sz="1100" dirty="0"/>
          </a:p>
          <a:p>
            <a:pPr marL="342900" indent="-342900">
              <a:buSzPct val="100000"/>
              <a:buChar char="✓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officer channel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push · no Twilio cost · no SIM provisioning.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46085" y="434340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6085" y="434340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46085" y="4800600"/>
            <a:ext cx="3771290" cy="141732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10677" y="4892040"/>
            <a:ext cx="34786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</a:t>
            </a:r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languages between operator and caller?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Citizen-side TTS plays operator's English in caller's language and dialect.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</a:t>
            </a:r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mid-distress, soft voice?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silence detection · helpline-prompt-prime · low-ASR-confidence guard.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</a:t>
            </a:r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misinterpret regional phrasing?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paraphrase-and-confirm loop. Never acts on unconfirmed input.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</a:t>
            </a:r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case must reach human in seconds?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auto-handover · Telegram in &lt;3s · pre-populated dashboard.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ARJUNA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BHARAT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9260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1734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55768" y="1481328"/>
            <a:ext cx="12801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286000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86000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299439" y="2286000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9439" y="2286000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59965" y="2286000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9965" y="2286000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20492" y="2286000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0492" y="2286000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2670048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670048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v3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99439" y="2670048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9439" y="2670048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59965" y="2670048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9965" y="2670048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20492" y="2670048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20492" y="2670048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" y="3054096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54096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99439" y="3054096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9439" y="3054096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59965" y="3054096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59965" y="3054096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20492" y="3054096"/>
            <a:ext cx="787375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0492" y="3054096"/>
            <a:ext cx="7873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I/O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3529584"/>
            <a:ext cx="347868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WebSocket · VAD voice loop · 3-zone agent dashboard.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3.11 · async parallel pipeline.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+ NLU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Large v3 + Llama 3.3 70B · few-shot prompt with worked examples.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Neural · Sapna · Swara · Neerja.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SQLite ↔ Supabase Postgres · audit chain on both.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 · /api/audit/verify detects tampering.</a:t>
            </a:r>
            <a:endParaRPr lang="en-US" sz="1050" dirty="0"/>
          </a:p>
          <a:p>
            <a:pPr marL="342900" indent="-342900">
              <a:buSzPct val="100000"/>
              <a:buChar char="▸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swap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IndicConformer · Sarvam-1 · Bhashini · MeghRaj / KSDC.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10202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7362" y="2331720"/>
            <a:ext cx="114300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7362" y="233172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08650" y="2331720"/>
            <a:ext cx="2335682" cy="566928"/>
          </a:xfrm>
          <a:prstGeom prst="rect">
            <a:avLst/>
          </a:prstGeom>
          <a:solidFill>
            <a:srgbClr val="FFFCF3"/>
          </a:solidFill>
          <a:ln w="9525">
            <a:solidFill>
              <a:srgbClr val="E2D3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1802" y="2331720"/>
            <a:ext cx="22625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Web App · Agent Dashboard · Analytics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210202" y="2898648"/>
            <a:ext cx="37712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47362" y="2990088"/>
            <a:ext cx="1143000" cy="566928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47362" y="2990088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508650" y="2990088"/>
            <a:ext cx="2335682" cy="566928"/>
          </a:xfrm>
          <a:prstGeom prst="rect">
            <a:avLst/>
          </a:prstGeom>
          <a:solidFill>
            <a:srgbClr val="FFFCF3"/>
          </a:solidFill>
          <a:ln w="9525">
            <a:solidFill>
              <a:srgbClr val="E2D3A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81802" y="2990088"/>
            <a:ext cx="22625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Orchestrator · State Machine · 3 Safety Guards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210202" y="3557016"/>
            <a:ext cx="37712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7362" y="3648456"/>
            <a:ext cx="1143000" cy="56692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7362" y="364845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508650" y="3648456"/>
            <a:ext cx="2335682" cy="566928"/>
          </a:xfrm>
          <a:prstGeom prst="rect">
            <a:avLst/>
          </a:prstGeom>
          <a:solidFill>
            <a:srgbClr val="FFFCF3"/>
          </a:solidFill>
          <a:ln w="9525">
            <a:solidFill>
              <a:srgbClr val="E2D3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802" y="3648456"/>
            <a:ext cx="22625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· PII · Dialect · Sentiment · LLM · Verify · TTS · Audit · Learning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210202" y="4215384"/>
            <a:ext cx="37712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47362" y="4306824"/>
            <a:ext cx="1143000" cy="566928"/>
          </a:xfrm>
          <a:prstGeom prst="rect">
            <a:avLst/>
          </a:prstGeom>
          <a:solidFill>
            <a:srgbClr val="2A8A7A"/>
          </a:solidFill>
          <a:ln w="12700">
            <a:solidFill>
              <a:srgbClr val="2A8A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47362" y="430682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08650" y="4306824"/>
            <a:ext cx="2335682" cy="566928"/>
          </a:xfrm>
          <a:prstGeom prst="rect">
            <a:avLst/>
          </a:prstGeom>
          <a:solidFill>
            <a:srgbClr val="FFFCF3"/>
          </a:solidFill>
          <a:ln w="9525">
            <a:solidFill>
              <a:srgbClr val="E2D3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1802" y="4306824"/>
            <a:ext cx="22625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(default) · Supabase Postgres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210202" y="4873752"/>
            <a:ext cx="377129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47362" y="4965192"/>
            <a:ext cx="1143000" cy="566928"/>
          </a:xfrm>
          <a:prstGeom prst="rect">
            <a:avLst/>
          </a:prstGeom>
          <a:solidFill>
            <a:srgbClr val="081D33"/>
          </a:solidFill>
          <a:ln w="12700">
            <a:solidFill>
              <a:srgbClr val="081D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7362" y="496519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508650" y="4965192"/>
            <a:ext cx="2335682" cy="566928"/>
          </a:xfrm>
          <a:prstGeom prst="rect">
            <a:avLst/>
          </a:prstGeom>
          <a:solidFill>
            <a:srgbClr val="FFFCF3"/>
          </a:solidFill>
          <a:ln w="9525">
            <a:solidFill>
              <a:srgbClr val="E2D3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1802" y="4965192"/>
            <a:ext cx="22625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MS Edge TTS · Telegram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374794" y="5806440"/>
            <a:ext cx="34786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box is a single-file swap.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PIPELINE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46085" y="2148840"/>
            <a:ext cx="3771290" cy="278892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10677" y="2258568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47253" y="2258568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Citizen speaks naturally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347253" y="2491324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VAD captures audio · /converse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310677" y="2724081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47253" y="2724081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Whisper ASR · text + lang + conf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347253" y="2956837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PII redact (privacy boundary)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310677" y="3189593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47253" y="3189593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Dialect ∥ Sentiment (parallel)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8347253" y="3422350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Llama 3.3 + few-shot examples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310677" y="3655106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47253" y="3655106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3 Safety Guards run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347253" y="3887863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State: VERIFIED / CLARIFY / HANDOVER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310677" y="4120619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47253" y="4120619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Edge TTS → Citizen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8347253" y="4353375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WebSocket → Agent Dashboard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310677" y="4586132"/>
            <a:ext cx="3442106" cy="232756"/>
          </a:xfrm>
          <a:prstGeom prst="rect">
            <a:avLst/>
          </a:prstGeom>
          <a:solidFill>
            <a:srgbClr val="F8EFD8"/>
          </a:solidFill>
          <a:ln w="12700">
            <a:solidFill>
              <a:srgbClr val="F8EF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47253" y="4586132"/>
            <a:ext cx="3368954" cy="232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Telegram → Officer (handover only)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8146085" y="507492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46085" y="507492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CODE · DRIVE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146085" y="5532120"/>
            <a:ext cx="3771290" cy="68580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47253" y="5623560"/>
            <a:ext cx="3368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Prototype Video ·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Repository ·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Drive (slides · doc) · </a:t>
            </a:r>
            <a:pPr indent="0" marL="0">
              <a:buNone/>
            </a:pPr>
            <a:r>
              <a:rPr lang="en-US" sz="1100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link]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ARJUNA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BHARAT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9260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1734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55768" y="1481328"/>
            <a:ext cx="12801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3771290" cy="187452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347868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citizen UI · no app install · runs on any smartphone with mic.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Telegram bot · works on any officer's existing phone · no SIM provisioning.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app layer · sessions in memory · scales horizontally.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↔ Supabase Postgres · switch backends with one env variable.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10202" y="2148840"/>
            <a:ext cx="3771290" cy="187452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4794" y="2240280"/>
            <a:ext cx="347868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critical path · Whisper · Llama · FastAPI · all swappable for IndicConformer · Sarvam-1 · Bhashini.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redacted at edge BEFORE any LLM or DB exposure.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parallel pipeline · sub-second turn latency on warm cache.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ledger with public verifier.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safety guards · distress · trigger-happy handover · low-ASR.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46085" y="2148840"/>
            <a:ext cx="3771290" cy="187452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10677" y="2240280"/>
            <a:ext cx="347868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 · every external API swapped for in-country open-source on MeghRaj / KSDC.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plug into Twilio / Exotel TwiML &lt;Stream&gt; in front of existing 1092 PSTN line.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Continuous-learning capture · system improves with every confirmed call.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call summary in KN/HI/EN · supervisors can search by issue.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7707173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87952"/>
            <a:ext cx="7707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4645152"/>
            <a:ext cx="7707173" cy="1801368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782312"/>
          <a:ext cx="7432853" cy="914400"/>
        </p:xfrm>
        <a:graphic>
          <a:graphicData uri="http://schemas.openxmlformats.org/drawingml/2006/table">
            <a:tbl>
              <a:tblPr/>
              <a:tblGrid>
                <a:gridCol w="2973141"/>
                <a:gridCol w="445971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regional dialects Whisper hasn't seen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4-way Kannada classifier + prompt-prime · production swap to IndicConformer + Wav2Vec2.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may hallucinate or escalate unnecessarily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loop · 3 safety guards · auto-fallback model · DO-NOT-handover few-shot.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Low-confidence ASR on noisy 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Low-ASR-confidence guard skips LLM and asks the caller to repeat.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PII in transcripts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redaction before LLM/DB · audit hash chain proves no tampering.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Officer not on duty needs phone notification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Telegram bot push with full pre-populated case context in &lt;3 seconds.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3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146085" y="4187952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46085" y="4187952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46085" y="4645152"/>
            <a:ext cx="3771290" cy="1801368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10677" y="4736592"/>
            <a:ext cx="347868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call into structured · searchable · multilingual records.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Digital India · Bhashini · Karnataka e-Governance.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handovers + corrections give supervisors quality signals.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model swap-points keep the system upgradable.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ARJUNA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BHARAT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9260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1734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55768" y="1481328"/>
            <a:ext cx="12801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3771290" cy="1986534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3478682" cy="184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★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Response, First Time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 ensures the operator acts on the correct interpretation.</a:t>
            </a:r>
            <a:endParaRPr lang="en-US" sz="1050" dirty="0"/>
          </a:p>
          <a:p>
            <a:pPr marL="342900" indent="-342900">
              <a:buSzPct val="100000"/>
              <a:buChar char="★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Severe-Case Response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context cuts officer ramp-up from minutes to seconds.</a:t>
            </a:r>
            <a:endParaRPr lang="en-US" sz="1050" dirty="0"/>
          </a:p>
          <a:p>
            <a:pPr marL="342900" indent="-342900">
              <a:buSzPct val="100000"/>
              <a:buChar char="★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speech in KN/HI/EN with dialect tolerance · no IVR maze.</a:t>
            </a:r>
            <a:endParaRPr lang="en-US" sz="1050" dirty="0"/>
          </a:p>
          <a:p>
            <a:pPr marL="342900" indent="-342900">
              <a:buSzPct val="100000"/>
              <a:buChar char="★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Comfort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types in English · citizen hears Kannada via TTS.</a:t>
            </a:r>
            <a:endParaRPr lang="en-US" sz="1050" dirty="0"/>
          </a:p>
          <a:p>
            <a:pPr marL="342900" indent="-342900">
              <a:buSzPct val="100000"/>
              <a:buChar char="★"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Auditable Calls ·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hash-chained for evidence integrity.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226814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226814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4320" y="4684014"/>
            <a:ext cx="3771290" cy="153390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4775454"/>
            <a:ext cx="3478682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MeghRaj / KSDC with IndicConformer + Sarvam-1 + Bhashini.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Telephony integration via Twilio / Exotel &lt;Stream&gt; in front of 1092 PSTN line.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Karnataka helplines 112 · 1098 · 181 · 100.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ASR via IndicConformer in WASM for offline rural.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coverage to Tulu · Konkani · Beary.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0202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0202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4794" y="2240280"/>
            <a:ext cx="347868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➤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wrong-action rate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caller misunderstanding — the largest quality failure in citizen helplines.</a:t>
            </a:r>
            <a:endParaRPr lang="en-US" sz="1100" dirty="0"/>
          </a:p>
          <a:p>
            <a:pPr marL="342900" indent="-342900">
              <a:buSzPct val="100000"/>
              <a:buChar char="➤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access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40 %+ of Karnataka callers more comfortable in a non-operator language.</a:t>
            </a:r>
            <a:endParaRPr lang="en-US" sz="1100" dirty="0"/>
          </a:p>
          <a:p>
            <a:pPr marL="342900" indent="-342900">
              <a:buSzPct val="100000"/>
              <a:buChar char="➤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traceability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 prove who knew what when.</a:t>
            </a:r>
            <a:endParaRPr lang="en-US" sz="1100" dirty="0"/>
          </a:p>
          <a:p>
            <a:pPr marL="342900" indent="-342900">
              <a:buSzPct val="100000"/>
              <a:buChar char="➤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Continuous-learning loop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becomes training data for region-specific Indian models.</a:t>
            </a:r>
            <a:endParaRPr lang="en-US" sz="1100" dirty="0"/>
          </a:p>
          <a:p>
            <a:pPr marL="342900" indent="-342900">
              <a:buSzPct val="100000"/>
              <a:buChar char="➤"/>
            </a:pPr>
            <a:r>
              <a:rPr lang="en-US" sz="1100" b="1" dirty="0">
                <a:solidFill>
                  <a:srgbClr val="0D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·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state helplines can adopt — Maharashtra 103 · Tamil Nadu 181.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6085" y="1691640"/>
            <a:ext cx="37712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46085" y="2148840"/>
            <a:ext cx="377129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4685" y="2331720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4685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969045" y="2331720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9045" y="2331720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Understanding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74685" y="2953512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4685" y="2953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969045" y="2953512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9045" y="2953512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Severe Response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74685" y="3575304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4685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69045" y="3575304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9045" y="3575304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Access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74685" y="4197096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74685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969045" y="4197096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9045" y="4197096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Audit-Grade Traceability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374685" y="4818888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74685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9045" y="4818888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9045" y="4818888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Productivity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374685" y="5440680"/>
            <a:ext cx="502920" cy="5029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4685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969045" y="5440680"/>
            <a:ext cx="271973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69045" y="5440680"/>
            <a:ext cx="2719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ARJUNA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5655" y="228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BHARAT ·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292608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11734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55768" y="1481328"/>
            <a:ext cx="1280160" cy="0"/>
          </a:xfrm>
          <a:prstGeom prst="line">
            <a:avLst/>
          </a:prstGeom>
          <a:noFill/>
          <a:ln w="3810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731520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· MODELS · DATASETS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7315200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4028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Speech Recognition via Large-Scale Weak Supervision (Radford et al., 2022).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IndicConformer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ASR for 22 Indian languages (2024) — ai4bharat.iitm.ac.in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IndicVoices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corpus across 22 Indian languages, used for fine-tuning regional acoustics.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Sarvam-1, a 2 B-parameter India-native foundation model (2024) — sarvam.ai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Language Translation Mission, MeitY, Government of India — bhashini.gov.in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 Neural TTS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Indian-language voices Sapna · Swara · Neerja.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Sub-200 ms LLM inference for real-time voice agents — groq.com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1092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Child Helpline · DPAR (e-Governance), Government of Karnataka.</a:t>
            </a:r>
            <a:endParaRPr lang="en-US" sz="1150" dirty="0"/>
          </a:p>
          <a:p>
            <a:pPr marL="342900" indent="-342900">
              <a:buSzPct val="100000"/>
              <a:buChar char="●"/>
            </a:pPr>
            <a:r>
              <a:rPr lang="en-US" sz="11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 Kannada Samyukta Samputa ·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Venkatasubbaiah — referenced in the problem statement.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54112" y="1691640"/>
            <a:ext cx="4163263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54112" y="1691640"/>
            <a:ext cx="41632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54112" y="2148840"/>
            <a:ext cx="4163263" cy="4069080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18704" y="2286000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18704" y="2286000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881464" y="2286000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81464" y="2286000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18704" y="3054096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3054096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881464" y="3054096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81464" y="3054096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18704" y="3822192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3822192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881464" y="3822192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81464" y="3822192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18704" y="4590288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4590288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881464" y="4590288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81464" y="4590288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18704" y="5358384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5358384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81464" y="5358384"/>
            <a:ext cx="1871320" cy="676656"/>
          </a:xfrm>
          <a:prstGeom prst="rect">
            <a:avLst/>
          </a:prstGeom>
          <a:solidFill>
            <a:srgbClr val="FFFCF3"/>
          </a:solidFill>
          <a:ln w="12700">
            <a:solidFill>
              <a:srgbClr val="E2D3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81464" y="5358384"/>
            <a:ext cx="1871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8600" y="6565392"/>
            <a:ext cx="11734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@AI for Bharat · Theme 12: AI for 1092 Helpline · Team Arjuna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Pratyaya — AI for 1092 Helpline</dc:title>
  <dc:subject>PptxGenJS Presentation</dc:subject>
  <dc:creator>Team Arjuna</dc:creator>
  <cp:lastModifiedBy>Team Arjuna</cp:lastModifiedBy>
  <cp:revision>1</cp:revision>
  <dcterms:created xsi:type="dcterms:W3CDTF">2026-05-06T19:59:40Z</dcterms:created>
  <dcterms:modified xsi:type="dcterms:W3CDTF">2026-05-06T19:59:40Z</dcterms:modified>
</cp:coreProperties>
</file>